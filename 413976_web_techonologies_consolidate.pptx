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5635" autoAdjust="0"/>
  </p:normalViewPr>
  <p:slideViewPr>
    <p:cSldViewPr snapToGrid="0">
      <p:cViewPr varScale="1">
        <p:scale>
          <a:sx n="70" d="100"/>
          <a:sy n="70" d="100"/>
        </p:scale>
        <p:origin x="116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E5D2D1-3ABA-49B8-B137-E539CDA9532F}" type="datetimeFigureOut">
              <a:rPr lang="en-US" smtClean="0"/>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350731-30C9-4924-9E56-EA3536EF3A62}" type="slidenum">
              <a:rPr lang="en-US" smtClean="0"/>
              <a:t>‹#›</a:t>
            </a:fld>
            <a:endParaRPr lang="en-US"/>
          </a:p>
        </p:txBody>
      </p:sp>
    </p:spTree>
    <p:extLst>
      <p:ext uri="{BB962C8B-B14F-4D97-AF65-F5344CB8AC3E}">
        <p14:creationId xmlns:p14="http://schemas.microsoft.com/office/powerpoint/2010/main" val="2107926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initial topic discussed in Week 1 is the basic principles of web technologies with the help of HTML. I acquired the ability to organize a simple web page in with fundamental compositions like headings, paragraphs and list. The assignment of developing personal recruitment profile also made me </a:t>
            </a:r>
            <a:r>
              <a:rPr lang="en-US" sz="1200" kern="1200" dirty="0" err="1">
                <a:solidFill>
                  <a:schemeClr val="tx1"/>
                </a:solidFill>
                <a:effectLst/>
                <a:latin typeface="+mn-lt"/>
                <a:ea typeface="+mn-ea"/>
                <a:cs typeface="+mn-cs"/>
              </a:rPr>
              <a:t>realise</a:t>
            </a:r>
            <a:r>
              <a:rPr lang="en-US" sz="1200" kern="1200" dirty="0">
                <a:solidFill>
                  <a:schemeClr val="tx1"/>
                </a:solidFill>
                <a:effectLst/>
                <a:latin typeface="+mn-lt"/>
                <a:ea typeface="+mn-ea"/>
                <a:cs typeface="+mn-cs"/>
              </a:rPr>
              <a:t> how the content is arranged to real users. I also had experience in proper saving of HTML files and trying them in a browser. This week provided a solid base regarding future web development activities and has helped the learning outcome of familiarizing with the basic web application structures.</a:t>
            </a:r>
            <a:endParaRPr lang="en-US" dirty="0"/>
          </a:p>
        </p:txBody>
      </p:sp>
      <p:sp>
        <p:nvSpPr>
          <p:cNvPr id="4" name="Slide Number Placeholder 3"/>
          <p:cNvSpPr>
            <a:spLocks noGrp="1"/>
          </p:cNvSpPr>
          <p:nvPr>
            <p:ph type="sldNum" sz="quarter" idx="5"/>
          </p:nvPr>
        </p:nvSpPr>
        <p:spPr/>
        <p:txBody>
          <a:bodyPr/>
          <a:lstStyle/>
          <a:p>
            <a:fld id="{BB350731-30C9-4924-9E56-EA3536EF3A62}" type="slidenum">
              <a:rPr lang="en-US" smtClean="0"/>
              <a:t>2</a:t>
            </a:fld>
            <a:endParaRPr lang="en-US"/>
          </a:p>
        </p:txBody>
      </p:sp>
    </p:spTree>
    <p:extLst>
      <p:ext uri="{BB962C8B-B14F-4D97-AF65-F5344CB8AC3E}">
        <p14:creationId xmlns:p14="http://schemas.microsoft.com/office/powerpoint/2010/main" val="774625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Week 2 was dedicated to version control with the help of GitHub that is a must in collaborative web development. I have been taught to make and maintain repositories, open new branches and post more files of the project. The ability to commit development progress changes with meaningful messages helped me to realize how progress is monitored. The development of a pull request exemplified the way of how the updates could be checked before the transfer to the main branch. The direct learning outcome that was addressed in this week was the professional development practice and source code of web application management.</a:t>
            </a:r>
            <a:endParaRPr lang="en-US" dirty="0"/>
          </a:p>
        </p:txBody>
      </p:sp>
      <p:sp>
        <p:nvSpPr>
          <p:cNvPr id="4" name="Slide Number Placeholder 3"/>
          <p:cNvSpPr>
            <a:spLocks noGrp="1"/>
          </p:cNvSpPr>
          <p:nvPr>
            <p:ph type="sldNum" sz="quarter" idx="5"/>
          </p:nvPr>
        </p:nvSpPr>
        <p:spPr/>
        <p:txBody>
          <a:bodyPr/>
          <a:lstStyle/>
          <a:p>
            <a:fld id="{BB350731-30C9-4924-9E56-EA3536EF3A62}" type="slidenum">
              <a:rPr lang="en-US" smtClean="0"/>
              <a:t>3</a:t>
            </a:fld>
            <a:endParaRPr lang="en-US"/>
          </a:p>
        </p:txBody>
      </p:sp>
    </p:spTree>
    <p:extLst>
      <p:ext uri="{BB962C8B-B14F-4D97-AF65-F5344CB8AC3E}">
        <p14:creationId xmlns:p14="http://schemas.microsoft.com/office/powerpoint/2010/main" val="41178083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During Week 3, I studied the application of WordPress as a content management system. I came to know that CMS platforms are easy to use in creating content without having a solid understanding of codes. The idea of creating and publishing a blog post showed me to be aware of assessing content </a:t>
            </a:r>
            <a:r>
              <a:rPr lang="en-US" sz="1200" kern="1200" dirty="0" err="1">
                <a:solidFill>
                  <a:schemeClr val="tx1"/>
                </a:solidFill>
                <a:effectLst/>
                <a:latin typeface="+mn-lt"/>
                <a:ea typeface="+mn-ea"/>
                <a:cs typeface="+mn-cs"/>
              </a:rPr>
              <a:t>organisation</a:t>
            </a:r>
            <a:r>
              <a:rPr lang="en-US" sz="1200" kern="1200" dirty="0">
                <a:solidFill>
                  <a:schemeClr val="tx1"/>
                </a:solidFill>
                <a:effectLst/>
                <a:latin typeface="+mn-lt"/>
                <a:ea typeface="+mn-ea"/>
                <a:cs typeface="+mn-cs"/>
              </a:rPr>
              <a:t> based on categories and tags. The addition of featured images and visual presentation and usability. This assignment showed the ability of CMS technologies to improve users experience and efficiency. The week helped me to comprehend the existence of other approaches to web development, as opposed to the utilization of statical HTML and this fact concurred with learning outcomes, associated with reviewing various web technologies.</a:t>
            </a:r>
            <a:endParaRPr lang="en-US" dirty="0"/>
          </a:p>
        </p:txBody>
      </p:sp>
      <p:sp>
        <p:nvSpPr>
          <p:cNvPr id="4" name="Slide Number Placeholder 3"/>
          <p:cNvSpPr>
            <a:spLocks noGrp="1"/>
          </p:cNvSpPr>
          <p:nvPr>
            <p:ph type="sldNum" sz="quarter" idx="5"/>
          </p:nvPr>
        </p:nvSpPr>
        <p:spPr/>
        <p:txBody>
          <a:bodyPr/>
          <a:lstStyle/>
          <a:p>
            <a:fld id="{BB350731-30C9-4924-9E56-EA3536EF3A62}" type="slidenum">
              <a:rPr lang="en-US" smtClean="0"/>
              <a:t>4</a:t>
            </a:fld>
            <a:endParaRPr lang="en-US"/>
          </a:p>
        </p:txBody>
      </p:sp>
    </p:spTree>
    <p:extLst>
      <p:ext uri="{BB962C8B-B14F-4D97-AF65-F5344CB8AC3E}">
        <p14:creationId xmlns:p14="http://schemas.microsoft.com/office/powerpoint/2010/main" val="3330816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Week 4 presented basics on server side with the set up of a local web server using WAMP. I was able to learn how servers are used to pose web content via browsers, as well as how files are served via localhost. To ensure that the server is functioning properly, a simple page/server of Hello, World! was created and tested. This fieldwork exercise has enabled me to appreciate the dynamics between a client and a server environment. It helped to achieve the learning outcome connected with the implementation and practice of web applications in a controlled development environment.</a:t>
            </a:r>
            <a:endParaRPr lang="en-US" dirty="0"/>
          </a:p>
        </p:txBody>
      </p:sp>
      <p:sp>
        <p:nvSpPr>
          <p:cNvPr id="4" name="Slide Number Placeholder 3"/>
          <p:cNvSpPr>
            <a:spLocks noGrp="1"/>
          </p:cNvSpPr>
          <p:nvPr>
            <p:ph type="sldNum" sz="quarter" idx="5"/>
          </p:nvPr>
        </p:nvSpPr>
        <p:spPr/>
        <p:txBody>
          <a:bodyPr/>
          <a:lstStyle/>
          <a:p>
            <a:fld id="{BB350731-30C9-4924-9E56-EA3536EF3A62}" type="slidenum">
              <a:rPr lang="en-US" smtClean="0"/>
              <a:t>5</a:t>
            </a:fld>
            <a:endParaRPr lang="en-US"/>
          </a:p>
        </p:txBody>
      </p:sp>
    </p:spTree>
    <p:extLst>
      <p:ext uri="{BB962C8B-B14F-4D97-AF65-F5344CB8AC3E}">
        <p14:creationId xmlns:p14="http://schemas.microsoft.com/office/powerpoint/2010/main" val="1105540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Week 5, I designed a multi-page website, which combined HTML, CSS, and JavaScript. I was taught about efficient </a:t>
            </a:r>
            <a:r>
              <a:rPr lang="en-US" sz="1200" kern="1200" dirty="0" err="1">
                <a:solidFill>
                  <a:schemeClr val="tx1"/>
                </a:solidFill>
                <a:effectLst/>
                <a:latin typeface="+mn-lt"/>
                <a:ea typeface="+mn-ea"/>
                <a:cs typeface="+mn-cs"/>
              </a:rPr>
              <a:t>organisation</a:t>
            </a:r>
            <a:r>
              <a:rPr lang="en-US" sz="1200" kern="1200" dirty="0">
                <a:solidFill>
                  <a:schemeClr val="tx1"/>
                </a:solidFill>
                <a:effectLst/>
                <a:latin typeface="+mn-lt"/>
                <a:ea typeface="+mn-ea"/>
                <a:cs typeface="+mn-cs"/>
              </a:rPr>
              <a:t> of files and creation of navigation between pages. JavaScript was implemented in order to provide interactivity including alerts and form validation to enhance the user experience. By having the site hosted on local server, prior knowledge of server configuration was strengthened. This week provided evidence of my capability to design and build working web applications and was a direct contribution towards the learning outcome of giving the front-end technologies integration.</a:t>
            </a:r>
            <a:endParaRPr lang="en-US" dirty="0"/>
          </a:p>
        </p:txBody>
      </p:sp>
      <p:sp>
        <p:nvSpPr>
          <p:cNvPr id="4" name="Slide Number Placeholder 3"/>
          <p:cNvSpPr>
            <a:spLocks noGrp="1"/>
          </p:cNvSpPr>
          <p:nvPr>
            <p:ph type="sldNum" sz="quarter" idx="5"/>
          </p:nvPr>
        </p:nvSpPr>
        <p:spPr/>
        <p:txBody>
          <a:bodyPr/>
          <a:lstStyle/>
          <a:p>
            <a:fld id="{BB350731-30C9-4924-9E56-EA3536EF3A62}" type="slidenum">
              <a:rPr lang="en-US" smtClean="0"/>
              <a:t>6</a:t>
            </a:fld>
            <a:endParaRPr lang="en-US"/>
          </a:p>
        </p:txBody>
      </p:sp>
    </p:spTree>
    <p:extLst>
      <p:ext uri="{BB962C8B-B14F-4D97-AF65-F5344CB8AC3E}">
        <p14:creationId xmlns:p14="http://schemas.microsoft.com/office/powerpoint/2010/main" val="3894419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week 6 was devoted to the testing of the dynamic web application based on PHP and JavaScript. My registration form was able to confirm the user input with the help of a user-friendly validation form and then send the data asynchronously via AJAX. This enabled the page to be updated dynamically without having to refresh the page in order to enhance ease of use. Request handling and data </a:t>
            </a:r>
            <a:r>
              <a:rPr lang="en-US" sz="1200" kern="1200" dirty="0" err="1">
                <a:solidFill>
                  <a:schemeClr val="tx1"/>
                </a:solidFill>
                <a:effectLst/>
                <a:latin typeface="+mn-lt"/>
                <a:ea typeface="+mn-ea"/>
                <a:cs typeface="+mn-cs"/>
              </a:rPr>
              <a:t>sanitisation</a:t>
            </a:r>
            <a:r>
              <a:rPr lang="en-US" sz="1200" kern="1200" dirty="0">
                <a:solidFill>
                  <a:schemeClr val="tx1"/>
                </a:solidFill>
                <a:effectLst/>
                <a:latin typeface="+mn-lt"/>
                <a:ea typeface="+mn-ea"/>
                <a:cs typeface="+mn-cs"/>
              </a:rPr>
              <a:t> were some of the concepts brought out by server-side processing. This assignment enhanced my intellect of the dynamics between client and server technologies, and achieved the learning outcome, which concerned the development of a dynamic web application.</a:t>
            </a:r>
            <a:endParaRPr lang="en-US" dirty="0"/>
          </a:p>
        </p:txBody>
      </p:sp>
      <p:sp>
        <p:nvSpPr>
          <p:cNvPr id="4" name="Slide Number Placeholder 3"/>
          <p:cNvSpPr>
            <a:spLocks noGrp="1"/>
          </p:cNvSpPr>
          <p:nvPr>
            <p:ph type="sldNum" sz="quarter" idx="5"/>
          </p:nvPr>
        </p:nvSpPr>
        <p:spPr/>
        <p:txBody>
          <a:bodyPr/>
          <a:lstStyle/>
          <a:p>
            <a:fld id="{BB350731-30C9-4924-9E56-EA3536EF3A62}" type="slidenum">
              <a:rPr lang="en-US" smtClean="0"/>
              <a:t>7</a:t>
            </a:fld>
            <a:endParaRPr lang="en-US"/>
          </a:p>
        </p:txBody>
      </p:sp>
    </p:spTree>
    <p:extLst>
      <p:ext uri="{BB962C8B-B14F-4D97-AF65-F5344CB8AC3E}">
        <p14:creationId xmlns:p14="http://schemas.microsoft.com/office/powerpoint/2010/main" val="53165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During Week 7, I investigated asynchronous communication based on the AJAX. I used a feature whereby information was retrieved in the server on-demand when a button was pressed. This activity demonstrated the enhancement of AJAX in the performance and user experience through the loading of data without updating the page. The integration of more than one technology in a single application strengthened the previous knowledge. This week assisted in the learning outcome of critically understanding how the various web technologies can be integrated to make web technologies more responsive and interactive.</a:t>
            </a:r>
            <a:endParaRPr lang="en-US" dirty="0"/>
          </a:p>
        </p:txBody>
      </p:sp>
      <p:sp>
        <p:nvSpPr>
          <p:cNvPr id="4" name="Slide Number Placeholder 3"/>
          <p:cNvSpPr>
            <a:spLocks noGrp="1"/>
          </p:cNvSpPr>
          <p:nvPr>
            <p:ph type="sldNum" sz="quarter" idx="5"/>
          </p:nvPr>
        </p:nvSpPr>
        <p:spPr/>
        <p:txBody>
          <a:bodyPr/>
          <a:lstStyle/>
          <a:p>
            <a:fld id="{BB350731-30C9-4924-9E56-EA3536EF3A62}" type="slidenum">
              <a:rPr lang="en-US" smtClean="0"/>
              <a:t>8</a:t>
            </a:fld>
            <a:endParaRPr lang="en-US"/>
          </a:p>
        </p:txBody>
      </p:sp>
    </p:spTree>
    <p:extLst>
      <p:ext uri="{BB962C8B-B14F-4D97-AF65-F5344CB8AC3E}">
        <p14:creationId xmlns:p14="http://schemas.microsoft.com/office/powerpoint/2010/main" val="3820427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Week 8 involved improvement of web pages by incorporation of multimedia components. I added video and audio files with the tags of HTML5 and made an image gallery to present the content on an image basis. CSS effects were used to emphasize key skills to enhance interest. This assignment showed the ability of multimedia in enhancing communication and experience of online users. It favored the learning outcome of creating attractive web interfaces and being ready to know how the various types of media are incorporated in the contemporary web applications.</a:t>
            </a:r>
            <a:endParaRPr lang="en-US" dirty="0"/>
          </a:p>
        </p:txBody>
      </p:sp>
      <p:sp>
        <p:nvSpPr>
          <p:cNvPr id="4" name="Slide Number Placeholder 3"/>
          <p:cNvSpPr>
            <a:spLocks noGrp="1"/>
          </p:cNvSpPr>
          <p:nvPr>
            <p:ph type="sldNum" sz="quarter" idx="5"/>
          </p:nvPr>
        </p:nvSpPr>
        <p:spPr/>
        <p:txBody>
          <a:bodyPr/>
          <a:lstStyle/>
          <a:p>
            <a:fld id="{BB350731-30C9-4924-9E56-EA3536EF3A62}" type="slidenum">
              <a:rPr lang="en-US" smtClean="0"/>
              <a:t>9</a:t>
            </a:fld>
            <a:endParaRPr lang="en-US"/>
          </a:p>
        </p:txBody>
      </p:sp>
    </p:spTree>
    <p:extLst>
      <p:ext uri="{BB962C8B-B14F-4D97-AF65-F5344CB8AC3E}">
        <p14:creationId xmlns:p14="http://schemas.microsoft.com/office/powerpoint/2010/main" val="17443944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Week 8 was concentrated to improve the web pages using the proper use of multimedia elements. I used HTML5 tags video and audio, and the video and audio were embedded with the right playback controls and compatibility with the browsers. The gallery of images was developed to demonstrate the projects and the skills visually enhancing the way the content is presented and interacted by the users. Besides, CSS animation was used to emphasize major skills and attract attention to the user to important columns of the webpage. This assignment has shown that multimedia can contribute to communication, accessibility and general experience of the user. It facilitated the educational goal of coming up with an attractive web interface design and the concept of integrating various types of media into the contemporary web applications.</a:t>
            </a:r>
            <a:endParaRPr lang="en-US" dirty="0"/>
          </a:p>
        </p:txBody>
      </p:sp>
      <p:sp>
        <p:nvSpPr>
          <p:cNvPr id="4" name="Slide Number Placeholder 3"/>
          <p:cNvSpPr>
            <a:spLocks noGrp="1"/>
          </p:cNvSpPr>
          <p:nvPr>
            <p:ph type="sldNum" sz="quarter" idx="5"/>
          </p:nvPr>
        </p:nvSpPr>
        <p:spPr/>
        <p:txBody>
          <a:bodyPr/>
          <a:lstStyle/>
          <a:p>
            <a:fld id="{BB350731-30C9-4924-9E56-EA3536EF3A62}" type="slidenum">
              <a:rPr lang="en-US" smtClean="0"/>
              <a:t>10</a:t>
            </a:fld>
            <a:endParaRPr lang="en-US"/>
          </a:p>
        </p:txBody>
      </p:sp>
    </p:spTree>
    <p:extLst>
      <p:ext uri="{BB962C8B-B14F-4D97-AF65-F5344CB8AC3E}">
        <p14:creationId xmlns:p14="http://schemas.microsoft.com/office/powerpoint/2010/main" val="5375904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week 10 synergized the concepts of usability and security. I used a smooth scrolling and dropdown responsive navigation menu which enhanced the ease of accessing the menu regardless of the tool. I was also able to discover important security steps on websites and how the use of plugins can ensure protection of WordPress websites. The knowledge of frequent software updates advocated good web maintenance. The last week facilitated the learning outcomes that were targeted towards evaluating the usability, performance, and security of web applications.</a:t>
            </a:r>
          </a:p>
          <a:p>
            <a:endParaRPr lang="en-US" dirty="0"/>
          </a:p>
        </p:txBody>
      </p:sp>
      <p:sp>
        <p:nvSpPr>
          <p:cNvPr id="4" name="Slide Number Placeholder 3"/>
          <p:cNvSpPr>
            <a:spLocks noGrp="1"/>
          </p:cNvSpPr>
          <p:nvPr>
            <p:ph type="sldNum" sz="quarter" idx="5"/>
          </p:nvPr>
        </p:nvSpPr>
        <p:spPr/>
        <p:txBody>
          <a:bodyPr/>
          <a:lstStyle/>
          <a:p>
            <a:fld id="{BB350731-30C9-4924-9E56-EA3536EF3A62}" type="slidenum">
              <a:rPr lang="en-US" smtClean="0"/>
              <a:t>11</a:t>
            </a:fld>
            <a:endParaRPr lang="en-US"/>
          </a:p>
        </p:txBody>
      </p:sp>
    </p:spTree>
    <p:extLst>
      <p:ext uri="{BB962C8B-B14F-4D97-AF65-F5344CB8AC3E}">
        <p14:creationId xmlns:p14="http://schemas.microsoft.com/office/powerpoint/2010/main" val="2345636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806EAE9-953B-4E34-B567-CE87F95EB0AA}" type="datetimeFigureOut">
              <a:rPr lang="en-US" smtClean="0"/>
              <a:t>2/2/2026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B1FCCD35-8058-4BF2-A165-50941CB370F2}" type="slidenum">
              <a:rPr lang="en-US" smtClean="0"/>
              <a:t>‹#›</a:t>
            </a:fld>
            <a:endParaRPr lang="en-US"/>
          </a:p>
        </p:txBody>
      </p:sp>
    </p:spTree>
    <p:extLst>
      <p:ext uri="{BB962C8B-B14F-4D97-AF65-F5344CB8AC3E}">
        <p14:creationId xmlns:p14="http://schemas.microsoft.com/office/powerpoint/2010/main" val="564673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06EAE9-953B-4E34-B567-CE87F95EB0AA}"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B1FCCD35-8058-4BF2-A165-50941CB370F2}" type="slidenum">
              <a:rPr lang="en-US" smtClean="0"/>
              <a:t>‹#›</a:t>
            </a:fld>
            <a:endParaRPr lang="en-US"/>
          </a:p>
        </p:txBody>
      </p:sp>
    </p:spTree>
    <p:extLst>
      <p:ext uri="{BB962C8B-B14F-4D97-AF65-F5344CB8AC3E}">
        <p14:creationId xmlns:p14="http://schemas.microsoft.com/office/powerpoint/2010/main" val="2088927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06EAE9-953B-4E34-B567-CE87F95EB0AA}"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CCD35-8058-4BF2-A165-50941CB370F2}" type="slidenum">
              <a:rPr lang="en-US" smtClean="0"/>
              <a:t>‹#›</a:t>
            </a:fld>
            <a:endParaRPr lang="en-US"/>
          </a:p>
        </p:txBody>
      </p:sp>
    </p:spTree>
    <p:extLst>
      <p:ext uri="{BB962C8B-B14F-4D97-AF65-F5344CB8AC3E}">
        <p14:creationId xmlns:p14="http://schemas.microsoft.com/office/powerpoint/2010/main" val="2608460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06EAE9-953B-4E34-B567-CE87F95EB0AA}"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FCCD35-8058-4BF2-A165-50941CB370F2}" type="slidenum">
              <a:rPr lang="en-US" smtClean="0"/>
              <a:t>‹#›</a:t>
            </a:fld>
            <a:endParaRPr lang="en-US"/>
          </a:p>
        </p:txBody>
      </p:sp>
    </p:spTree>
    <p:extLst>
      <p:ext uri="{BB962C8B-B14F-4D97-AF65-F5344CB8AC3E}">
        <p14:creationId xmlns:p14="http://schemas.microsoft.com/office/powerpoint/2010/main" val="212031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06EAE9-953B-4E34-B567-CE87F95EB0AA}" type="datetimeFigureOut">
              <a:rPr lang="en-US" smtClean="0"/>
              <a:t>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FCCD35-8058-4BF2-A165-50941CB370F2}" type="slidenum">
              <a:rPr lang="en-US" smtClean="0"/>
              <a:t>‹#›</a:t>
            </a:fld>
            <a:endParaRPr lang="en-US"/>
          </a:p>
        </p:txBody>
      </p:sp>
    </p:spTree>
    <p:extLst>
      <p:ext uri="{BB962C8B-B14F-4D97-AF65-F5344CB8AC3E}">
        <p14:creationId xmlns:p14="http://schemas.microsoft.com/office/powerpoint/2010/main" val="253185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06EAE9-953B-4E34-B567-CE87F95EB0AA}" type="datetimeFigureOut">
              <a:rPr lang="en-US" smtClean="0"/>
              <a:t>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FCCD35-8058-4BF2-A165-50941CB370F2}" type="slidenum">
              <a:rPr lang="en-US" smtClean="0"/>
              <a:t>‹#›</a:t>
            </a:fld>
            <a:endParaRPr lang="en-US"/>
          </a:p>
        </p:txBody>
      </p:sp>
    </p:spTree>
    <p:extLst>
      <p:ext uri="{BB962C8B-B14F-4D97-AF65-F5344CB8AC3E}">
        <p14:creationId xmlns:p14="http://schemas.microsoft.com/office/powerpoint/2010/main" val="3808500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06EAE9-953B-4E34-B567-CE87F95EB0AA}" type="datetimeFigureOut">
              <a:rPr lang="en-US" smtClean="0"/>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FCCD35-8058-4BF2-A165-50941CB370F2}" type="slidenum">
              <a:rPr lang="en-US" smtClean="0"/>
              <a:t>‹#›</a:t>
            </a:fld>
            <a:endParaRPr lang="en-US"/>
          </a:p>
        </p:txBody>
      </p:sp>
    </p:spTree>
    <p:extLst>
      <p:ext uri="{BB962C8B-B14F-4D97-AF65-F5344CB8AC3E}">
        <p14:creationId xmlns:p14="http://schemas.microsoft.com/office/powerpoint/2010/main" val="2000097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06EAE9-953B-4E34-B567-CE87F95EB0AA}"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FCCD35-8058-4BF2-A165-50941CB370F2}" type="slidenum">
              <a:rPr lang="en-US" smtClean="0"/>
              <a:t>‹#›</a:t>
            </a:fld>
            <a:endParaRPr lang="en-US"/>
          </a:p>
        </p:txBody>
      </p:sp>
    </p:spTree>
    <p:extLst>
      <p:ext uri="{BB962C8B-B14F-4D97-AF65-F5344CB8AC3E}">
        <p14:creationId xmlns:p14="http://schemas.microsoft.com/office/powerpoint/2010/main" val="3080017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06EAE9-953B-4E34-B567-CE87F95EB0AA}"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FCCD35-8058-4BF2-A165-50941CB370F2}" type="slidenum">
              <a:rPr lang="en-US" smtClean="0"/>
              <a:t>‹#›</a:t>
            </a:fld>
            <a:endParaRPr lang="en-US"/>
          </a:p>
        </p:txBody>
      </p:sp>
    </p:spTree>
    <p:extLst>
      <p:ext uri="{BB962C8B-B14F-4D97-AF65-F5344CB8AC3E}">
        <p14:creationId xmlns:p14="http://schemas.microsoft.com/office/powerpoint/2010/main" val="98318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06EAE9-953B-4E34-B567-CE87F95EB0AA}"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FCCD35-8058-4BF2-A165-50941CB370F2}" type="slidenum">
              <a:rPr lang="en-US" smtClean="0"/>
              <a:t>‹#›</a:t>
            </a:fld>
            <a:endParaRPr lang="en-US"/>
          </a:p>
        </p:txBody>
      </p:sp>
    </p:spTree>
    <p:extLst>
      <p:ext uri="{BB962C8B-B14F-4D97-AF65-F5344CB8AC3E}">
        <p14:creationId xmlns:p14="http://schemas.microsoft.com/office/powerpoint/2010/main" val="163809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06EAE9-953B-4E34-B567-CE87F95EB0AA}"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CCD35-8058-4BF2-A165-50941CB370F2}" type="slidenum">
              <a:rPr lang="en-US" smtClean="0"/>
              <a:t>‹#›</a:t>
            </a:fld>
            <a:endParaRPr lang="en-US"/>
          </a:p>
        </p:txBody>
      </p:sp>
    </p:spTree>
    <p:extLst>
      <p:ext uri="{BB962C8B-B14F-4D97-AF65-F5344CB8AC3E}">
        <p14:creationId xmlns:p14="http://schemas.microsoft.com/office/powerpoint/2010/main" val="24336164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06EAE9-953B-4E34-B567-CE87F95EB0AA}"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CCD35-8058-4BF2-A165-50941CB370F2}" type="slidenum">
              <a:rPr lang="en-US" smtClean="0"/>
              <a:t>‹#›</a:t>
            </a:fld>
            <a:endParaRPr lang="en-US"/>
          </a:p>
        </p:txBody>
      </p:sp>
    </p:spTree>
    <p:extLst>
      <p:ext uri="{BB962C8B-B14F-4D97-AF65-F5344CB8AC3E}">
        <p14:creationId xmlns:p14="http://schemas.microsoft.com/office/powerpoint/2010/main" val="3817860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06EAE9-953B-4E34-B567-CE87F95EB0AA}"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CCD35-8058-4BF2-A165-50941CB370F2}" type="slidenum">
              <a:rPr lang="en-US" smtClean="0"/>
              <a:t>‹#›</a:t>
            </a:fld>
            <a:endParaRPr lang="en-US"/>
          </a:p>
        </p:txBody>
      </p:sp>
    </p:spTree>
    <p:extLst>
      <p:ext uri="{BB962C8B-B14F-4D97-AF65-F5344CB8AC3E}">
        <p14:creationId xmlns:p14="http://schemas.microsoft.com/office/powerpoint/2010/main" val="41323917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06EAE9-953B-4E34-B567-CE87F95EB0AA}"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CCD35-8058-4BF2-A165-50941CB370F2}" type="slidenum">
              <a:rPr lang="en-US" smtClean="0"/>
              <a:t>‹#›</a:t>
            </a:fld>
            <a:endParaRPr lang="en-US"/>
          </a:p>
        </p:txBody>
      </p:sp>
    </p:spTree>
    <p:extLst>
      <p:ext uri="{BB962C8B-B14F-4D97-AF65-F5344CB8AC3E}">
        <p14:creationId xmlns:p14="http://schemas.microsoft.com/office/powerpoint/2010/main" val="32694365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06EAE9-953B-4E34-B567-CE87F95EB0AA}"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CCD35-8058-4BF2-A165-50941CB370F2}" type="slidenum">
              <a:rPr lang="en-US" smtClean="0"/>
              <a:t>‹#›</a:t>
            </a:fld>
            <a:endParaRPr lang="en-US"/>
          </a:p>
        </p:txBody>
      </p:sp>
    </p:spTree>
    <p:extLst>
      <p:ext uri="{BB962C8B-B14F-4D97-AF65-F5344CB8AC3E}">
        <p14:creationId xmlns:p14="http://schemas.microsoft.com/office/powerpoint/2010/main" val="4943225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06EAE9-953B-4E34-B567-CE87F95EB0AA}"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CCD35-8058-4BF2-A165-50941CB370F2}" type="slidenum">
              <a:rPr lang="en-US" smtClean="0"/>
              <a:t>‹#›</a:t>
            </a:fld>
            <a:endParaRPr lang="en-US"/>
          </a:p>
        </p:txBody>
      </p:sp>
    </p:spTree>
    <p:extLst>
      <p:ext uri="{BB962C8B-B14F-4D97-AF65-F5344CB8AC3E}">
        <p14:creationId xmlns:p14="http://schemas.microsoft.com/office/powerpoint/2010/main" val="27188634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06EAE9-953B-4E34-B567-CE87F95EB0AA}"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CCD35-8058-4BF2-A165-50941CB370F2}" type="slidenum">
              <a:rPr lang="en-US" smtClean="0"/>
              <a:t>‹#›</a:t>
            </a:fld>
            <a:endParaRPr lang="en-US"/>
          </a:p>
        </p:txBody>
      </p:sp>
    </p:spTree>
    <p:extLst>
      <p:ext uri="{BB962C8B-B14F-4D97-AF65-F5344CB8AC3E}">
        <p14:creationId xmlns:p14="http://schemas.microsoft.com/office/powerpoint/2010/main" val="2488599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806EAE9-953B-4E34-B567-CE87F95EB0AA}" type="datetimeFigureOut">
              <a:rPr lang="en-US" smtClean="0"/>
              <a:t>2/2/2026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1FCCD35-8058-4BF2-A165-50941CB370F2}" type="slidenum">
              <a:rPr lang="en-US" smtClean="0"/>
              <a:t>‹#›</a:t>
            </a:fld>
            <a:endParaRPr lang="en-US"/>
          </a:p>
        </p:txBody>
      </p:sp>
    </p:spTree>
    <p:extLst>
      <p:ext uri="{BB962C8B-B14F-4D97-AF65-F5344CB8AC3E}">
        <p14:creationId xmlns:p14="http://schemas.microsoft.com/office/powerpoint/2010/main" val="228205997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D8A57-7084-EEDC-A1AB-E833E3A2F062}"/>
              </a:ext>
            </a:extLst>
          </p:cNvPr>
          <p:cNvSpPr>
            <a:spLocks noGrp="1"/>
          </p:cNvSpPr>
          <p:nvPr>
            <p:ph type="ctrTitle"/>
          </p:nvPr>
        </p:nvSpPr>
        <p:spPr/>
        <p:txBody>
          <a:bodyPr>
            <a:normAutofit fontScale="90000"/>
          </a:bodyPr>
          <a:lstStyle/>
          <a:p>
            <a:r>
              <a:rPr lang="en-US" b="1" dirty="0"/>
              <a:t>Web Technologies – Part B Consolidation (Weeks 1–10)</a:t>
            </a:r>
            <a:endParaRPr lang="en-US" dirty="0"/>
          </a:p>
        </p:txBody>
      </p:sp>
      <p:sp>
        <p:nvSpPr>
          <p:cNvPr id="3" name="Subtitle 2">
            <a:extLst>
              <a:ext uri="{FF2B5EF4-FFF2-40B4-BE49-F238E27FC236}">
                <a16:creationId xmlns:a16="http://schemas.microsoft.com/office/drawing/2014/main" id="{5A65CADF-C38B-2EDA-9B5D-BE83D88B2EFF}"/>
              </a:ext>
            </a:extLst>
          </p:cNvPr>
          <p:cNvSpPr>
            <a:spLocks noGrp="1"/>
          </p:cNvSpPr>
          <p:nvPr>
            <p:ph type="subTitle" idx="1"/>
          </p:nvPr>
        </p:nvSpPr>
        <p:spPr/>
        <p:txBody>
          <a:bodyPr/>
          <a:lstStyle/>
          <a:p>
            <a:r>
              <a:rPr lang="en-US" dirty="0"/>
              <a:t>MSc Computer Science – Web Technologies</a:t>
            </a:r>
            <a:br>
              <a:rPr lang="en-US" dirty="0"/>
            </a:br>
            <a:r>
              <a:rPr lang="en-US" dirty="0"/>
              <a:t>Student Name:-Krupal Solanki</a:t>
            </a:r>
            <a:br>
              <a:rPr lang="en-US" dirty="0"/>
            </a:br>
            <a:r>
              <a:rPr lang="en-US" dirty="0"/>
              <a:t>Student ID:-</a:t>
            </a:r>
            <a:r>
              <a:rPr lang="en-US" dirty="0">
                <a:latin typeface="Times New Roman" panose="02020603050405020304" pitchFamily="18" charset="0"/>
                <a:cs typeface="Times New Roman" panose="02020603050405020304" pitchFamily="18" charset="0"/>
              </a:rPr>
              <a:t>413976</a:t>
            </a:r>
            <a:br>
              <a:rPr lang="en-US" dirty="0"/>
            </a:br>
            <a:endParaRPr lang="en-US" dirty="0"/>
          </a:p>
        </p:txBody>
      </p:sp>
    </p:spTree>
    <p:extLst>
      <p:ext uri="{BB962C8B-B14F-4D97-AF65-F5344CB8AC3E}">
        <p14:creationId xmlns:p14="http://schemas.microsoft.com/office/powerpoint/2010/main" val="37866495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0D08E-7D79-C3AD-4AA1-09EDDDD2F353}"/>
              </a:ext>
            </a:extLst>
          </p:cNvPr>
          <p:cNvSpPr>
            <a:spLocks noGrp="1"/>
          </p:cNvSpPr>
          <p:nvPr>
            <p:ph type="title"/>
          </p:nvPr>
        </p:nvSpPr>
        <p:spPr/>
        <p:txBody>
          <a:bodyPr/>
          <a:lstStyle/>
          <a:p>
            <a:r>
              <a:rPr lang="en-US" b="1" dirty="0"/>
              <a:t>Week 1: HTML Foundations and Web Presence</a:t>
            </a:r>
            <a:endParaRPr lang="en-US" dirty="0"/>
          </a:p>
        </p:txBody>
      </p:sp>
      <p:sp>
        <p:nvSpPr>
          <p:cNvPr id="3" name="Content Placeholder 2">
            <a:extLst>
              <a:ext uri="{FF2B5EF4-FFF2-40B4-BE49-F238E27FC236}">
                <a16:creationId xmlns:a16="http://schemas.microsoft.com/office/drawing/2014/main" id="{9840D2C8-3096-C7F1-5823-ED91E82911E8}"/>
              </a:ext>
            </a:extLst>
          </p:cNvPr>
          <p:cNvSpPr>
            <a:spLocks noGrp="1"/>
          </p:cNvSpPr>
          <p:nvPr>
            <p:ph idx="1"/>
          </p:nvPr>
        </p:nvSpPr>
        <p:spPr>
          <a:xfrm>
            <a:off x="1195009" y="2217548"/>
            <a:ext cx="3562972" cy="4640452"/>
          </a:xfrm>
        </p:spPr>
        <p:txBody>
          <a:bodyPr>
            <a:normAutofit fontScale="92500" lnSpcReduction="20000"/>
          </a:bodyPr>
          <a:lstStyle/>
          <a:p>
            <a:pPr lvl="0"/>
            <a:r>
              <a:rPr lang="en-US" dirty="0"/>
              <a:t>Developed basic HTML structure using headings, paragraphs, and lists</a:t>
            </a:r>
          </a:p>
          <a:p>
            <a:pPr lvl="0"/>
            <a:r>
              <a:rPr lang="en-US" dirty="0"/>
              <a:t>Created personal recruitment profile webpage using semantic HTML elements</a:t>
            </a:r>
          </a:p>
          <a:p>
            <a:pPr lvl="0"/>
            <a:r>
              <a:rPr lang="en-US" dirty="0"/>
              <a:t>Understood importance of correct file structure and browser rendering (</a:t>
            </a:r>
            <a:r>
              <a:rPr lang="en-US" dirty="0" err="1"/>
              <a:t>Hoseini</a:t>
            </a:r>
            <a:r>
              <a:rPr lang="en-US" dirty="0"/>
              <a:t>, 2023)</a:t>
            </a:r>
          </a:p>
          <a:p>
            <a:pPr lvl="0"/>
            <a:r>
              <a:rPr lang="en-US" dirty="0"/>
              <a:t>Demonstrated ability to deploy static HTML pages locally</a:t>
            </a:r>
          </a:p>
          <a:p>
            <a:endParaRPr lang="en-US" dirty="0"/>
          </a:p>
        </p:txBody>
      </p:sp>
      <p:pic>
        <p:nvPicPr>
          <p:cNvPr id="4" name="Picture 3">
            <a:extLst>
              <a:ext uri="{FF2B5EF4-FFF2-40B4-BE49-F238E27FC236}">
                <a16:creationId xmlns:a16="http://schemas.microsoft.com/office/drawing/2014/main" id="{1D378345-28CE-D8A3-6506-1FFBB0C0E3B6}"/>
              </a:ext>
            </a:extLst>
          </p:cNvPr>
          <p:cNvPicPr>
            <a:picLocks noChangeAspect="1"/>
          </p:cNvPicPr>
          <p:nvPr/>
        </p:nvPicPr>
        <p:blipFill>
          <a:blip r:embed="rId3"/>
          <a:stretch>
            <a:fillRect/>
          </a:stretch>
        </p:blipFill>
        <p:spPr>
          <a:xfrm>
            <a:off x="6123123" y="2217548"/>
            <a:ext cx="5943600" cy="3162935"/>
          </a:xfrm>
          <a:prstGeom prst="rect">
            <a:avLst/>
          </a:prstGeom>
        </p:spPr>
      </p:pic>
      <p:pic>
        <p:nvPicPr>
          <p:cNvPr id="5" name="Picture 4">
            <a:extLst>
              <a:ext uri="{FF2B5EF4-FFF2-40B4-BE49-F238E27FC236}">
                <a16:creationId xmlns:a16="http://schemas.microsoft.com/office/drawing/2014/main" id="{4E676C8D-BA50-996F-AADF-1632AAEAEE23}"/>
              </a:ext>
            </a:extLst>
          </p:cNvPr>
          <p:cNvPicPr>
            <a:picLocks noChangeAspect="1"/>
          </p:cNvPicPr>
          <p:nvPr/>
        </p:nvPicPr>
        <p:blipFill>
          <a:blip r:embed="rId4"/>
          <a:stretch>
            <a:fillRect/>
          </a:stretch>
        </p:blipFill>
        <p:spPr>
          <a:xfrm>
            <a:off x="4757981" y="3970147"/>
            <a:ext cx="5943600" cy="2978150"/>
          </a:xfrm>
          <a:prstGeom prst="rect">
            <a:avLst/>
          </a:prstGeom>
        </p:spPr>
      </p:pic>
    </p:spTree>
    <p:extLst>
      <p:ext uri="{BB962C8B-B14F-4D97-AF65-F5344CB8AC3E}">
        <p14:creationId xmlns:p14="http://schemas.microsoft.com/office/powerpoint/2010/main" val="2735693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7F2FE-930E-0FA2-AAE0-4A06BA6CC8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DF0504-72E2-0891-A957-1BCE218293B3}"/>
              </a:ext>
            </a:extLst>
          </p:cNvPr>
          <p:cNvSpPr>
            <a:spLocks noGrp="1"/>
          </p:cNvSpPr>
          <p:nvPr>
            <p:ph type="title"/>
          </p:nvPr>
        </p:nvSpPr>
        <p:spPr/>
        <p:txBody>
          <a:bodyPr/>
          <a:lstStyle/>
          <a:p>
            <a:r>
              <a:rPr lang="en-US" b="1" dirty="0"/>
              <a:t>Week 2: Version Control and GitHub Usage</a:t>
            </a:r>
            <a:endParaRPr lang="en-US" dirty="0"/>
          </a:p>
        </p:txBody>
      </p:sp>
      <p:sp>
        <p:nvSpPr>
          <p:cNvPr id="3" name="Content Placeholder 2">
            <a:extLst>
              <a:ext uri="{FF2B5EF4-FFF2-40B4-BE49-F238E27FC236}">
                <a16:creationId xmlns:a16="http://schemas.microsoft.com/office/drawing/2014/main" id="{ED8CD6E1-6C9E-928F-7B9E-293650DD0BE3}"/>
              </a:ext>
            </a:extLst>
          </p:cNvPr>
          <p:cNvSpPr>
            <a:spLocks noGrp="1"/>
          </p:cNvSpPr>
          <p:nvPr>
            <p:ph idx="1"/>
          </p:nvPr>
        </p:nvSpPr>
        <p:spPr>
          <a:xfrm>
            <a:off x="1360323" y="2097436"/>
            <a:ext cx="3971093" cy="4074764"/>
          </a:xfrm>
        </p:spPr>
        <p:txBody>
          <a:bodyPr>
            <a:normAutofit fontScale="92500" lnSpcReduction="20000"/>
          </a:bodyPr>
          <a:lstStyle/>
          <a:p>
            <a:pPr lvl="0"/>
            <a:r>
              <a:rPr lang="en-US" dirty="0"/>
              <a:t>Used GitHub repositories to manage web project source files</a:t>
            </a:r>
          </a:p>
          <a:p>
            <a:pPr lvl="0"/>
            <a:r>
              <a:rPr lang="en-US" dirty="0"/>
              <a:t>Created branches to safely implement updates without affecting main code</a:t>
            </a:r>
          </a:p>
          <a:p>
            <a:pPr lvl="0"/>
            <a:r>
              <a:rPr lang="en-US" dirty="0"/>
              <a:t>Uploaded media assets and tracked changes using commit history</a:t>
            </a:r>
          </a:p>
          <a:p>
            <a:pPr lvl="0"/>
            <a:r>
              <a:rPr lang="en-US" dirty="0"/>
              <a:t>Demonstrated collaborative development principles through pull requests</a:t>
            </a:r>
          </a:p>
          <a:p>
            <a:endParaRPr lang="en-US" dirty="0"/>
          </a:p>
        </p:txBody>
      </p:sp>
      <p:pic>
        <p:nvPicPr>
          <p:cNvPr id="4" name="Picture 3">
            <a:extLst>
              <a:ext uri="{FF2B5EF4-FFF2-40B4-BE49-F238E27FC236}">
                <a16:creationId xmlns:a16="http://schemas.microsoft.com/office/drawing/2014/main" id="{B75E241D-2700-1CB7-67AD-DE1AE2B5E0C0}"/>
              </a:ext>
            </a:extLst>
          </p:cNvPr>
          <p:cNvPicPr>
            <a:picLocks noChangeAspect="1"/>
          </p:cNvPicPr>
          <p:nvPr/>
        </p:nvPicPr>
        <p:blipFill>
          <a:blip r:embed="rId3"/>
          <a:stretch>
            <a:fillRect/>
          </a:stretch>
        </p:blipFill>
        <p:spPr>
          <a:xfrm>
            <a:off x="5455404" y="2097437"/>
            <a:ext cx="4819972" cy="2423890"/>
          </a:xfrm>
          <a:prstGeom prst="rect">
            <a:avLst/>
          </a:prstGeom>
        </p:spPr>
      </p:pic>
      <p:pic>
        <p:nvPicPr>
          <p:cNvPr id="5" name="Picture 4">
            <a:extLst>
              <a:ext uri="{FF2B5EF4-FFF2-40B4-BE49-F238E27FC236}">
                <a16:creationId xmlns:a16="http://schemas.microsoft.com/office/drawing/2014/main" id="{B1FDF8D0-BEF0-F369-565C-9A3456A364E8}"/>
              </a:ext>
            </a:extLst>
          </p:cNvPr>
          <p:cNvPicPr>
            <a:picLocks noChangeAspect="1"/>
          </p:cNvPicPr>
          <p:nvPr/>
        </p:nvPicPr>
        <p:blipFill>
          <a:blip r:embed="rId4"/>
          <a:stretch>
            <a:fillRect/>
          </a:stretch>
        </p:blipFill>
        <p:spPr>
          <a:xfrm>
            <a:off x="7865390" y="4290315"/>
            <a:ext cx="4169043" cy="2099665"/>
          </a:xfrm>
          <a:prstGeom prst="rect">
            <a:avLst/>
          </a:prstGeom>
        </p:spPr>
      </p:pic>
    </p:spTree>
    <p:extLst>
      <p:ext uri="{BB962C8B-B14F-4D97-AF65-F5344CB8AC3E}">
        <p14:creationId xmlns:p14="http://schemas.microsoft.com/office/powerpoint/2010/main" val="3467465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9EB6D-24F4-8984-4C16-DB370B2558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1276EC-9960-5318-CEE8-7A833681B684}"/>
              </a:ext>
            </a:extLst>
          </p:cNvPr>
          <p:cNvSpPr>
            <a:spLocks noGrp="1"/>
          </p:cNvSpPr>
          <p:nvPr>
            <p:ph type="title"/>
          </p:nvPr>
        </p:nvSpPr>
        <p:spPr/>
        <p:txBody>
          <a:bodyPr/>
          <a:lstStyle/>
          <a:p>
            <a:r>
              <a:rPr lang="en-US" b="1" dirty="0"/>
              <a:t>Week 3: Content Management Systems and Blogging</a:t>
            </a:r>
            <a:endParaRPr lang="en-US" dirty="0"/>
          </a:p>
        </p:txBody>
      </p:sp>
      <p:sp>
        <p:nvSpPr>
          <p:cNvPr id="3" name="Content Placeholder 2">
            <a:extLst>
              <a:ext uri="{FF2B5EF4-FFF2-40B4-BE49-F238E27FC236}">
                <a16:creationId xmlns:a16="http://schemas.microsoft.com/office/drawing/2014/main" id="{4C7B590C-BFB8-DBFD-EA11-5F75797D99B9}"/>
              </a:ext>
            </a:extLst>
          </p:cNvPr>
          <p:cNvSpPr>
            <a:spLocks noGrp="1"/>
          </p:cNvSpPr>
          <p:nvPr>
            <p:ph idx="1"/>
          </p:nvPr>
        </p:nvSpPr>
        <p:spPr/>
        <p:txBody>
          <a:bodyPr/>
          <a:lstStyle/>
          <a:p>
            <a:pPr lvl="0"/>
            <a:r>
              <a:rPr lang="en-US" dirty="0"/>
              <a:t>Explored WordPress as a content management system for dynamic websites</a:t>
            </a:r>
          </a:p>
          <a:p>
            <a:pPr lvl="0"/>
            <a:r>
              <a:rPr lang="en-US" dirty="0"/>
              <a:t>Created and published blog posts using visual content editors</a:t>
            </a:r>
          </a:p>
          <a:p>
            <a:pPr lvl="0"/>
            <a:r>
              <a:rPr lang="en-US" dirty="0" err="1"/>
              <a:t>Organised</a:t>
            </a:r>
            <a:r>
              <a:rPr lang="en-US" dirty="0"/>
              <a:t> content using categories, tags, and featured images (Miltner and Gerrard, 2022)</a:t>
            </a:r>
          </a:p>
          <a:p>
            <a:pPr lvl="0"/>
            <a:r>
              <a:rPr lang="en-US" dirty="0"/>
              <a:t>Understood role of CMS platforms in modern web development</a:t>
            </a:r>
          </a:p>
          <a:p>
            <a:endParaRPr lang="en-US" dirty="0"/>
          </a:p>
        </p:txBody>
      </p:sp>
    </p:spTree>
    <p:extLst>
      <p:ext uri="{BB962C8B-B14F-4D97-AF65-F5344CB8AC3E}">
        <p14:creationId xmlns:p14="http://schemas.microsoft.com/office/powerpoint/2010/main" val="410705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2A453-E582-2789-C973-A6C684878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8EC02-298A-0840-3536-272825E00C9F}"/>
              </a:ext>
            </a:extLst>
          </p:cNvPr>
          <p:cNvSpPr>
            <a:spLocks noGrp="1"/>
          </p:cNvSpPr>
          <p:nvPr>
            <p:ph type="title"/>
          </p:nvPr>
        </p:nvSpPr>
        <p:spPr/>
        <p:txBody>
          <a:bodyPr/>
          <a:lstStyle/>
          <a:p>
            <a:r>
              <a:rPr lang="en-US" b="1" dirty="0"/>
              <a:t>Week 4: Local Server Configuration</a:t>
            </a:r>
            <a:endParaRPr lang="en-US" dirty="0"/>
          </a:p>
        </p:txBody>
      </p:sp>
      <p:sp>
        <p:nvSpPr>
          <p:cNvPr id="3" name="Content Placeholder 2">
            <a:extLst>
              <a:ext uri="{FF2B5EF4-FFF2-40B4-BE49-F238E27FC236}">
                <a16:creationId xmlns:a16="http://schemas.microsoft.com/office/drawing/2014/main" id="{B2D436D2-9A8F-CA8A-6B9D-E244B891B509}"/>
              </a:ext>
            </a:extLst>
          </p:cNvPr>
          <p:cNvSpPr>
            <a:spLocks noGrp="1"/>
          </p:cNvSpPr>
          <p:nvPr>
            <p:ph idx="1"/>
          </p:nvPr>
        </p:nvSpPr>
        <p:spPr>
          <a:xfrm>
            <a:off x="6877721" y="2140056"/>
            <a:ext cx="5009480" cy="4191001"/>
          </a:xfrm>
        </p:spPr>
        <p:txBody>
          <a:bodyPr/>
          <a:lstStyle/>
          <a:p>
            <a:pPr lvl="0"/>
            <a:r>
              <a:rPr lang="en-US" dirty="0"/>
              <a:t>Configured local web server using WAMP environment successfully</a:t>
            </a:r>
          </a:p>
          <a:p>
            <a:pPr lvl="0"/>
            <a:r>
              <a:rPr lang="en-US" dirty="0"/>
              <a:t>Tested server functionality using simple Hello World webpage</a:t>
            </a:r>
          </a:p>
          <a:p>
            <a:pPr lvl="0"/>
            <a:r>
              <a:rPr lang="en-US" dirty="0"/>
              <a:t>Understood relationship between browsers, servers, and web files (Acharya, 2024)</a:t>
            </a:r>
          </a:p>
          <a:p>
            <a:pPr lvl="0"/>
            <a:r>
              <a:rPr lang="en-US" dirty="0"/>
              <a:t>Verified correct deployment through localhost testing</a:t>
            </a:r>
          </a:p>
          <a:p>
            <a:endParaRPr lang="en-US" dirty="0"/>
          </a:p>
        </p:txBody>
      </p:sp>
      <p:pic>
        <p:nvPicPr>
          <p:cNvPr id="4" name="Picture 3">
            <a:extLst>
              <a:ext uri="{FF2B5EF4-FFF2-40B4-BE49-F238E27FC236}">
                <a16:creationId xmlns:a16="http://schemas.microsoft.com/office/drawing/2014/main" id="{8F8AA991-D1B1-73AA-EA69-776322E7A838}"/>
              </a:ext>
            </a:extLst>
          </p:cNvPr>
          <p:cNvPicPr>
            <a:picLocks noChangeAspect="1"/>
          </p:cNvPicPr>
          <p:nvPr/>
        </p:nvPicPr>
        <p:blipFill>
          <a:blip r:embed="rId3"/>
          <a:stretch>
            <a:fillRect/>
          </a:stretch>
        </p:blipFill>
        <p:spPr>
          <a:xfrm>
            <a:off x="1100134" y="2062480"/>
            <a:ext cx="5313680" cy="2733040"/>
          </a:xfrm>
          <a:prstGeom prst="rect">
            <a:avLst/>
          </a:prstGeom>
        </p:spPr>
      </p:pic>
      <p:pic>
        <p:nvPicPr>
          <p:cNvPr id="5" name="Picture 4">
            <a:extLst>
              <a:ext uri="{FF2B5EF4-FFF2-40B4-BE49-F238E27FC236}">
                <a16:creationId xmlns:a16="http://schemas.microsoft.com/office/drawing/2014/main" id="{E5401294-7F58-B257-2CC5-8B1B11273C2E}"/>
              </a:ext>
            </a:extLst>
          </p:cNvPr>
          <p:cNvPicPr>
            <a:picLocks noChangeAspect="1"/>
          </p:cNvPicPr>
          <p:nvPr/>
        </p:nvPicPr>
        <p:blipFill>
          <a:blip r:embed="rId4"/>
          <a:stretch>
            <a:fillRect/>
          </a:stretch>
        </p:blipFill>
        <p:spPr>
          <a:xfrm>
            <a:off x="1449788" y="4171950"/>
            <a:ext cx="5340985" cy="2686050"/>
          </a:xfrm>
          <a:prstGeom prst="rect">
            <a:avLst/>
          </a:prstGeom>
        </p:spPr>
      </p:pic>
    </p:spTree>
    <p:extLst>
      <p:ext uri="{BB962C8B-B14F-4D97-AF65-F5344CB8AC3E}">
        <p14:creationId xmlns:p14="http://schemas.microsoft.com/office/powerpoint/2010/main" val="3310181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616C6-3527-6997-1D20-DCDC5F51F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181150-2DDA-6066-ED13-491A8BA15ED8}"/>
              </a:ext>
            </a:extLst>
          </p:cNvPr>
          <p:cNvSpPr>
            <a:spLocks noGrp="1"/>
          </p:cNvSpPr>
          <p:nvPr>
            <p:ph type="title"/>
          </p:nvPr>
        </p:nvSpPr>
        <p:spPr/>
        <p:txBody>
          <a:bodyPr>
            <a:normAutofit/>
          </a:bodyPr>
          <a:lstStyle/>
          <a:p>
            <a:r>
              <a:rPr lang="en-US" b="1" dirty="0"/>
              <a:t>Week 5: Multi-Page Websites and JavaScript Interaction</a:t>
            </a:r>
            <a:endParaRPr lang="en-US" dirty="0"/>
          </a:p>
        </p:txBody>
      </p:sp>
      <p:sp>
        <p:nvSpPr>
          <p:cNvPr id="3" name="Content Placeholder 2">
            <a:extLst>
              <a:ext uri="{FF2B5EF4-FFF2-40B4-BE49-F238E27FC236}">
                <a16:creationId xmlns:a16="http://schemas.microsoft.com/office/drawing/2014/main" id="{854AA112-323C-AED5-3E01-883A0247DEAD}"/>
              </a:ext>
            </a:extLst>
          </p:cNvPr>
          <p:cNvSpPr>
            <a:spLocks noGrp="1"/>
          </p:cNvSpPr>
          <p:nvPr>
            <p:ph idx="1"/>
          </p:nvPr>
        </p:nvSpPr>
        <p:spPr>
          <a:xfrm>
            <a:off x="1158847" y="2295039"/>
            <a:ext cx="4498036" cy="4012770"/>
          </a:xfrm>
        </p:spPr>
        <p:txBody>
          <a:bodyPr>
            <a:normAutofit lnSpcReduction="10000"/>
          </a:bodyPr>
          <a:lstStyle/>
          <a:p>
            <a:pPr lvl="0"/>
            <a:r>
              <a:rPr lang="en-US" dirty="0"/>
              <a:t>Designed multi-page website using structured HTML file </a:t>
            </a:r>
            <a:r>
              <a:rPr lang="en-US" dirty="0" err="1"/>
              <a:t>organisation</a:t>
            </a:r>
            <a:endParaRPr lang="en-US" dirty="0"/>
          </a:p>
          <a:p>
            <a:pPr lvl="0"/>
            <a:r>
              <a:rPr lang="en-US" dirty="0"/>
              <a:t>Applied CSS styling to enhance layout and visual consistency</a:t>
            </a:r>
          </a:p>
          <a:p>
            <a:pPr lvl="0"/>
            <a:r>
              <a:rPr lang="en-US" dirty="0"/>
              <a:t>Implemented JavaScript for interactive features and form validation</a:t>
            </a:r>
          </a:p>
          <a:p>
            <a:pPr lvl="0"/>
            <a:r>
              <a:rPr lang="en-US" dirty="0"/>
              <a:t>Hosted dynamic website locally using WAMP server</a:t>
            </a:r>
          </a:p>
          <a:p>
            <a:endParaRPr lang="en-US" dirty="0"/>
          </a:p>
        </p:txBody>
      </p:sp>
      <p:pic>
        <p:nvPicPr>
          <p:cNvPr id="4" name="Picture 3">
            <a:extLst>
              <a:ext uri="{FF2B5EF4-FFF2-40B4-BE49-F238E27FC236}">
                <a16:creationId xmlns:a16="http://schemas.microsoft.com/office/drawing/2014/main" id="{902D1BB1-CD03-F3B5-8694-FDBA9A3CD12C}"/>
              </a:ext>
            </a:extLst>
          </p:cNvPr>
          <p:cNvPicPr>
            <a:picLocks noChangeAspect="1"/>
          </p:cNvPicPr>
          <p:nvPr/>
        </p:nvPicPr>
        <p:blipFill>
          <a:blip r:embed="rId3"/>
          <a:stretch>
            <a:fillRect/>
          </a:stretch>
        </p:blipFill>
        <p:spPr>
          <a:xfrm>
            <a:off x="6096000" y="2128407"/>
            <a:ext cx="5943600" cy="3159125"/>
          </a:xfrm>
          <a:prstGeom prst="rect">
            <a:avLst/>
          </a:prstGeom>
        </p:spPr>
      </p:pic>
      <p:pic>
        <p:nvPicPr>
          <p:cNvPr id="5" name="Picture 4">
            <a:extLst>
              <a:ext uri="{FF2B5EF4-FFF2-40B4-BE49-F238E27FC236}">
                <a16:creationId xmlns:a16="http://schemas.microsoft.com/office/drawing/2014/main" id="{03D6C4FA-4CAE-ACFA-0C96-3E32ED11DE18}"/>
              </a:ext>
            </a:extLst>
          </p:cNvPr>
          <p:cNvPicPr>
            <a:picLocks noChangeAspect="1"/>
          </p:cNvPicPr>
          <p:nvPr/>
        </p:nvPicPr>
        <p:blipFill>
          <a:blip r:embed="rId4"/>
          <a:stretch>
            <a:fillRect/>
          </a:stretch>
        </p:blipFill>
        <p:spPr>
          <a:xfrm>
            <a:off x="5789909" y="4079643"/>
            <a:ext cx="5943600" cy="2976245"/>
          </a:xfrm>
          <a:prstGeom prst="rect">
            <a:avLst/>
          </a:prstGeom>
        </p:spPr>
      </p:pic>
    </p:spTree>
    <p:extLst>
      <p:ext uri="{BB962C8B-B14F-4D97-AF65-F5344CB8AC3E}">
        <p14:creationId xmlns:p14="http://schemas.microsoft.com/office/powerpoint/2010/main" val="3817856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1A559-6CBD-095B-F6AF-14668980E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DBB28-9553-AD0E-7A54-8CBADA917ABC}"/>
              </a:ext>
            </a:extLst>
          </p:cNvPr>
          <p:cNvSpPr>
            <a:spLocks noGrp="1"/>
          </p:cNvSpPr>
          <p:nvPr>
            <p:ph type="title"/>
          </p:nvPr>
        </p:nvSpPr>
        <p:spPr/>
        <p:txBody>
          <a:bodyPr/>
          <a:lstStyle/>
          <a:p>
            <a:r>
              <a:rPr lang="en-US" b="1" dirty="0"/>
              <a:t>Week 6: Dynamic Web Applications and Server-Side Processing</a:t>
            </a:r>
            <a:endParaRPr lang="en-US" dirty="0"/>
          </a:p>
        </p:txBody>
      </p:sp>
      <p:sp>
        <p:nvSpPr>
          <p:cNvPr id="3" name="Content Placeholder 2">
            <a:extLst>
              <a:ext uri="{FF2B5EF4-FFF2-40B4-BE49-F238E27FC236}">
                <a16:creationId xmlns:a16="http://schemas.microsoft.com/office/drawing/2014/main" id="{5DEE3040-64D6-6CD4-4807-A01C5C87C897}"/>
              </a:ext>
            </a:extLst>
          </p:cNvPr>
          <p:cNvSpPr>
            <a:spLocks noGrp="1"/>
          </p:cNvSpPr>
          <p:nvPr>
            <p:ph idx="1"/>
          </p:nvPr>
        </p:nvSpPr>
        <p:spPr>
          <a:xfrm>
            <a:off x="8694549" y="2535264"/>
            <a:ext cx="3301139" cy="4113510"/>
          </a:xfrm>
        </p:spPr>
        <p:txBody>
          <a:bodyPr>
            <a:normAutofit fontScale="85000" lnSpcReduction="20000"/>
          </a:bodyPr>
          <a:lstStyle/>
          <a:p>
            <a:pPr lvl="0"/>
            <a:r>
              <a:rPr lang="en-US" dirty="0"/>
              <a:t>Designed dynamic web application using server-side scripting language PHP</a:t>
            </a:r>
          </a:p>
          <a:p>
            <a:pPr lvl="0"/>
            <a:r>
              <a:rPr lang="en-US" dirty="0"/>
              <a:t>Created interactive registration form with client-side validation</a:t>
            </a:r>
          </a:p>
          <a:p>
            <a:pPr lvl="0"/>
            <a:r>
              <a:rPr lang="en-US" dirty="0"/>
              <a:t>Implemented AJAX submission to update content without page reload</a:t>
            </a:r>
          </a:p>
          <a:p>
            <a:pPr lvl="0"/>
            <a:r>
              <a:rPr lang="en-US" dirty="0"/>
              <a:t>Demonstrated interaction between frontend and backend components</a:t>
            </a:r>
          </a:p>
          <a:p>
            <a:endParaRPr lang="en-US" dirty="0"/>
          </a:p>
        </p:txBody>
      </p:sp>
      <p:pic>
        <p:nvPicPr>
          <p:cNvPr id="4" name="Picture 3">
            <a:extLst>
              <a:ext uri="{FF2B5EF4-FFF2-40B4-BE49-F238E27FC236}">
                <a16:creationId xmlns:a16="http://schemas.microsoft.com/office/drawing/2014/main" id="{48F3E9F6-1E09-F74D-46F9-8F3C480A1AEA}"/>
              </a:ext>
            </a:extLst>
          </p:cNvPr>
          <p:cNvPicPr>
            <a:picLocks noChangeAspect="1"/>
          </p:cNvPicPr>
          <p:nvPr/>
        </p:nvPicPr>
        <p:blipFill>
          <a:blip r:embed="rId3"/>
          <a:stretch>
            <a:fillRect/>
          </a:stretch>
        </p:blipFill>
        <p:spPr>
          <a:xfrm>
            <a:off x="1372891" y="2293727"/>
            <a:ext cx="4407977" cy="2258617"/>
          </a:xfrm>
          <a:prstGeom prst="rect">
            <a:avLst/>
          </a:prstGeom>
        </p:spPr>
      </p:pic>
      <p:pic>
        <p:nvPicPr>
          <p:cNvPr id="5" name="Picture 4">
            <a:extLst>
              <a:ext uri="{FF2B5EF4-FFF2-40B4-BE49-F238E27FC236}">
                <a16:creationId xmlns:a16="http://schemas.microsoft.com/office/drawing/2014/main" id="{8BEE0874-49DD-6E5E-7937-F559A9CA14C0}"/>
              </a:ext>
            </a:extLst>
          </p:cNvPr>
          <p:cNvPicPr>
            <a:picLocks noChangeAspect="1"/>
          </p:cNvPicPr>
          <p:nvPr/>
        </p:nvPicPr>
        <p:blipFill>
          <a:blip r:embed="rId4"/>
          <a:srcRect r="39396"/>
          <a:stretch>
            <a:fillRect/>
          </a:stretch>
        </p:blipFill>
        <p:spPr>
          <a:xfrm>
            <a:off x="1696419" y="4513811"/>
            <a:ext cx="3602066" cy="2327910"/>
          </a:xfrm>
          <a:prstGeom prst="rect">
            <a:avLst/>
          </a:prstGeom>
        </p:spPr>
      </p:pic>
      <p:pic>
        <p:nvPicPr>
          <p:cNvPr id="6" name="Picture 5">
            <a:extLst>
              <a:ext uri="{FF2B5EF4-FFF2-40B4-BE49-F238E27FC236}">
                <a16:creationId xmlns:a16="http://schemas.microsoft.com/office/drawing/2014/main" id="{895284E4-393C-706D-11C8-69A31649EAB4}"/>
              </a:ext>
            </a:extLst>
          </p:cNvPr>
          <p:cNvPicPr>
            <a:picLocks noChangeAspect="1"/>
          </p:cNvPicPr>
          <p:nvPr/>
        </p:nvPicPr>
        <p:blipFill>
          <a:blip r:embed="rId5"/>
          <a:srcRect r="25110"/>
          <a:stretch>
            <a:fillRect/>
          </a:stretch>
        </p:blipFill>
        <p:spPr>
          <a:xfrm>
            <a:off x="5184183" y="3506272"/>
            <a:ext cx="3301139" cy="2171494"/>
          </a:xfrm>
          <a:prstGeom prst="rect">
            <a:avLst/>
          </a:prstGeom>
        </p:spPr>
      </p:pic>
    </p:spTree>
    <p:extLst>
      <p:ext uri="{BB962C8B-B14F-4D97-AF65-F5344CB8AC3E}">
        <p14:creationId xmlns:p14="http://schemas.microsoft.com/office/powerpoint/2010/main" val="593287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99C9D-64CF-F81B-2E8A-5FDBE931E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4CB156-9F17-C6D0-FC62-0A6A71F9A243}"/>
              </a:ext>
            </a:extLst>
          </p:cNvPr>
          <p:cNvSpPr>
            <a:spLocks noGrp="1"/>
          </p:cNvSpPr>
          <p:nvPr>
            <p:ph type="title"/>
          </p:nvPr>
        </p:nvSpPr>
        <p:spPr/>
        <p:txBody>
          <a:bodyPr/>
          <a:lstStyle/>
          <a:p>
            <a:r>
              <a:rPr lang="en-US" b="1" dirty="0"/>
              <a:t>Week 7: WordPress and Asynchronous Data Loading with AJAX</a:t>
            </a:r>
            <a:endParaRPr lang="en-US" dirty="0"/>
          </a:p>
        </p:txBody>
      </p:sp>
      <p:sp>
        <p:nvSpPr>
          <p:cNvPr id="3" name="Content Placeholder 2">
            <a:extLst>
              <a:ext uri="{FF2B5EF4-FFF2-40B4-BE49-F238E27FC236}">
                <a16:creationId xmlns:a16="http://schemas.microsoft.com/office/drawing/2014/main" id="{519A7AEF-6371-A69A-5FC6-92DE1EF1612D}"/>
              </a:ext>
            </a:extLst>
          </p:cNvPr>
          <p:cNvSpPr>
            <a:spLocks noGrp="1"/>
          </p:cNvSpPr>
          <p:nvPr>
            <p:ph idx="1"/>
          </p:nvPr>
        </p:nvSpPr>
        <p:spPr>
          <a:xfrm>
            <a:off x="1158847" y="2324101"/>
            <a:ext cx="4002090" cy="4191001"/>
          </a:xfrm>
        </p:spPr>
        <p:txBody>
          <a:bodyPr>
            <a:normAutofit fontScale="92500" lnSpcReduction="20000"/>
          </a:bodyPr>
          <a:lstStyle/>
          <a:p>
            <a:pPr lvl="0"/>
            <a:r>
              <a:rPr lang="en-US" dirty="0"/>
              <a:t>Implemented AJAX to load server data asynchronously on user request</a:t>
            </a:r>
          </a:p>
          <a:p>
            <a:pPr lvl="0"/>
            <a:r>
              <a:rPr lang="en-US" dirty="0"/>
              <a:t>Combined HTML, JavaScript, and PHP within single web application</a:t>
            </a:r>
          </a:p>
          <a:p>
            <a:pPr lvl="0"/>
            <a:r>
              <a:rPr lang="en-US" dirty="0"/>
              <a:t>Improved user experience by avoiding unnecessary page reloads</a:t>
            </a:r>
          </a:p>
          <a:p>
            <a:pPr lvl="0"/>
            <a:r>
              <a:rPr lang="en-US" dirty="0"/>
              <a:t>Demonstrated practical understanding of asynchronous web communication</a:t>
            </a:r>
          </a:p>
          <a:p>
            <a:endParaRPr lang="en-US" dirty="0"/>
          </a:p>
        </p:txBody>
      </p:sp>
      <p:pic>
        <p:nvPicPr>
          <p:cNvPr id="5" name="Picture 4">
            <a:extLst>
              <a:ext uri="{FF2B5EF4-FFF2-40B4-BE49-F238E27FC236}">
                <a16:creationId xmlns:a16="http://schemas.microsoft.com/office/drawing/2014/main" id="{34A21BD3-E93C-2242-832C-633DF4B58293}"/>
              </a:ext>
            </a:extLst>
          </p:cNvPr>
          <p:cNvPicPr>
            <a:picLocks noChangeAspect="1"/>
          </p:cNvPicPr>
          <p:nvPr/>
        </p:nvPicPr>
        <p:blipFill>
          <a:blip r:embed="rId3"/>
          <a:srcRect r="37419"/>
          <a:stretch>
            <a:fillRect/>
          </a:stretch>
        </p:blipFill>
        <p:spPr>
          <a:xfrm>
            <a:off x="7671663" y="2324101"/>
            <a:ext cx="4389460" cy="2628749"/>
          </a:xfrm>
          <a:prstGeom prst="rect">
            <a:avLst/>
          </a:prstGeom>
        </p:spPr>
      </p:pic>
      <p:pic>
        <p:nvPicPr>
          <p:cNvPr id="6" name="Picture 5">
            <a:extLst>
              <a:ext uri="{FF2B5EF4-FFF2-40B4-BE49-F238E27FC236}">
                <a16:creationId xmlns:a16="http://schemas.microsoft.com/office/drawing/2014/main" id="{EA496190-E921-1960-206E-84B98DE0F829}"/>
              </a:ext>
            </a:extLst>
          </p:cNvPr>
          <p:cNvPicPr>
            <a:picLocks noChangeAspect="1"/>
          </p:cNvPicPr>
          <p:nvPr/>
        </p:nvPicPr>
        <p:blipFill>
          <a:blip r:embed="rId4"/>
          <a:srcRect r="46979"/>
          <a:stretch>
            <a:fillRect/>
          </a:stretch>
        </p:blipFill>
        <p:spPr>
          <a:xfrm>
            <a:off x="7671663" y="4343552"/>
            <a:ext cx="4103879" cy="2171550"/>
          </a:xfrm>
          <a:prstGeom prst="rect">
            <a:avLst/>
          </a:prstGeom>
        </p:spPr>
      </p:pic>
    </p:spTree>
    <p:extLst>
      <p:ext uri="{BB962C8B-B14F-4D97-AF65-F5344CB8AC3E}">
        <p14:creationId xmlns:p14="http://schemas.microsoft.com/office/powerpoint/2010/main" val="2751339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1B552-ADAD-698C-8A01-268920A5A4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A9576-6B6B-889D-D8B6-BD3096BD3890}"/>
              </a:ext>
            </a:extLst>
          </p:cNvPr>
          <p:cNvSpPr>
            <a:spLocks noGrp="1"/>
          </p:cNvSpPr>
          <p:nvPr>
            <p:ph type="title"/>
          </p:nvPr>
        </p:nvSpPr>
        <p:spPr/>
        <p:txBody>
          <a:bodyPr/>
          <a:lstStyle/>
          <a:p>
            <a:r>
              <a:rPr lang="en-US" b="1" dirty="0"/>
              <a:t>Week 8: Multimedia Integration and Animations</a:t>
            </a:r>
            <a:endParaRPr lang="en-US" dirty="0"/>
          </a:p>
        </p:txBody>
      </p:sp>
      <p:sp>
        <p:nvSpPr>
          <p:cNvPr id="3" name="Content Placeholder 2">
            <a:extLst>
              <a:ext uri="{FF2B5EF4-FFF2-40B4-BE49-F238E27FC236}">
                <a16:creationId xmlns:a16="http://schemas.microsoft.com/office/drawing/2014/main" id="{BA441DF7-8891-A1B3-2E12-D7BB86211CBC}"/>
              </a:ext>
            </a:extLst>
          </p:cNvPr>
          <p:cNvSpPr>
            <a:spLocks noGrp="1"/>
          </p:cNvSpPr>
          <p:nvPr>
            <p:ph idx="1"/>
          </p:nvPr>
        </p:nvSpPr>
        <p:spPr>
          <a:xfrm>
            <a:off x="1329328" y="2202050"/>
            <a:ext cx="3676626" cy="3780296"/>
          </a:xfrm>
        </p:spPr>
        <p:txBody>
          <a:bodyPr>
            <a:normAutofit fontScale="85000" lnSpcReduction="20000"/>
          </a:bodyPr>
          <a:lstStyle/>
          <a:p>
            <a:pPr lvl="0"/>
            <a:r>
              <a:rPr lang="en-US" dirty="0"/>
              <a:t>Embedded video and audio elements using HTML5 multimedia tags</a:t>
            </a:r>
          </a:p>
          <a:p>
            <a:pPr lvl="0"/>
            <a:r>
              <a:rPr lang="en-US" dirty="0"/>
              <a:t>Created image galleries to visually showcase projects and skills</a:t>
            </a:r>
          </a:p>
          <a:p>
            <a:pPr lvl="0"/>
            <a:r>
              <a:rPr lang="en-US" dirty="0"/>
              <a:t>Applied CSS animations to highlight key web development skills</a:t>
            </a:r>
          </a:p>
          <a:p>
            <a:pPr lvl="0"/>
            <a:r>
              <a:rPr lang="en-US" dirty="0"/>
              <a:t>Ensured multimedia content displayed correctly across browsers</a:t>
            </a:r>
          </a:p>
          <a:p>
            <a:endParaRPr lang="en-US" dirty="0"/>
          </a:p>
        </p:txBody>
      </p:sp>
      <p:pic>
        <p:nvPicPr>
          <p:cNvPr id="5" name="Picture 4">
            <a:extLst>
              <a:ext uri="{FF2B5EF4-FFF2-40B4-BE49-F238E27FC236}">
                <a16:creationId xmlns:a16="http://schemas.microsoft.com/office/drawing/2014/main" id="{4AD076D7-B3DA-D893-7BE5-ABAF1CFA0A6C}"/>
              </a:ext>
            </a:extLst>
          </p:cNvPr>
          <p:cNvPicPr>
            <a:picLocks noChangeAspect="1"/>
          </p:cNvPicPr>
          <p:nvPr/>
        </p:nvPicPr>
        <p:blipFill>
          <a:blip r:embed="rId3"/>
          <a:stretch>
            <a:fillRect/>
          </a:stretch>
        </p:blipFill>
        <p:spPr>
          <a:xfrm>
            <a:off x="4764089" y="2242973"/>
            <a:ext cx="5943600" cy="2840990"/>
          </a:xfrm>
          <a:prstGeom prst="rect">
            <a:avLst/>
          </a:prstGeom>
        </p:spPr>
      </p:pic>
      <p:pic>
        <p:nvPicPr>
          <p:cNvPr id="4" name="Picture 3">
            <a:extLst>
              <a:ext uri="{FF2B5EF4-FFF2-40B4-BE49-F238E27FC236}">
                <a16:creationId xmlns:a16="http://schemas.microsoft.com/office/drawing/2014/main" id="{F3595E9F-6C46-7223-5E08-6EEB66C0321E}"/>
              </a:ext>
            </a:extLst>
          </p:cNvPr>
          <p:cNvPicPr>
            <a:picLocks noChangeAspect="1"/>
          </p:cNvPicPr>
          <p:nvPr/>
        </p:nvPicPr>
        <p:blipFill>
          <a:blip r:embed="rId4"/>
          <a:stretch>
            <a:fillRect/>
          </a:stretch>
        </p:blipFill>
        <p:spPr>
          <a:xfrm>
            <a:off x="7890872" y="2202050"/>
            <a:ext cx="4070888" cy="3393277"/>
          </a:xfrm>
          <a:prstGeom prst="rect">
            <a:avLst/>
          </a:prstGeom>
        </p:spPr>
      </p:pic>
      <p:pic>
        <p:nvPicPr>
          <p:cNvPr id="7" name="Picture 6">
            <a:extLst>
              <a:ext uri="{FF2B5EF4-FFF2-40B4-BE49-F238E27FC236}">
                <a16:creationId xmlns:a16="http://schemas.microsoft.com/office/drawing/2014/main" id="{A7C50014-98BD-A41C-9312-03CA2FD7ADB6}"/>
              </a:ext>
            </a:extLst>
          </p:cNvPr>
          <p:cNvPicPr>
            <a:picLocks noChangeAspect="1"/>
          </p:cNvPicPr>
          <p:nvPr/>
        </p:nvPicPr>
        <p:blipFill>
          <a:blip r:embed="rId5"/>
          <a:stretch>
            <a:fillRect/>
          </a:stretch>
        </p:blipFill>
        <p:spPr>
          <a:xfrm>
            <a:off x="5125472" y="4453910"/>
            <a:ext cx="4622962" cy="2282834"/>
          </a:xfrm>
          <a:prstGeom prst="rect">
            <a:avLst/>
          </a:prstGeom>
        </p:spPr>
      </p:pic>
    </p:spTree>
    <p:extLst>
      <p:ext uri="{BB962C8B-B14F-4D97-AF65-F5344CB8AC3E}">
        <p14:creationId xmlns:p14="http://schemas.microsoft.com/office/powerpoint/2010/main" val="4186230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89314-EC21-6C52-6678-231EA2B30D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B598AC-7453-0C37-F027-599DF75705F5}"/>
              </a:ext>
            </a:extLst>
          </p:cNvPr>
          <p:cNvSpPr>
            <a:spLocks noGrp="1"/>
          </p:cNvSpPr>
          <p:nvPr>
            <p:ph type="title"/>
          </p:nvPr>
        </p:nvSpPr>
        <p:spPr/>
        <p:txBody>
          <a:bodyPr/>
          <a:lstStyle/>
          <a:p>
            <a:r>
              <a:rPr lang="en-US" b="1" dirty="0"/>
              <a:t>Week 9: User Registration, Security, and Validation</a:t>
            </a:r>
            <a:endParaRPr lang="en-US" dirty="0"/>
          </a:p>
        </p:txBody>
      </p:sp>
      <p:sp>
        <p:nvSpPr>
          <p:cNvPr id="3" name="Content Placeholder 2">
            <a:extLst>
              <a:ext uri="{FF2B5EF4-FFF2-40B4-BE49-F238E27FC236}">
                <a16:creationId xmlns:a16="http://schemas.microsoft.com/office/drawing/2014/main" id="{907EA9C3-C259-E2A9-669D-94B1B5AADDF8}"/>
              </a:ext>
            </a:extLst>
          </p:cNvPr>
          <p:cNvSpPr>
            <a:spLocks noGrp="1"/>
          </p:cNvSpPr>
          <p:nvPr>
            <p:ph idx="1"/>
          </p:nvPr>
        </p:nvSpPr>
        <p:spPr>
          <a:xfrm>
            <a:off x="1484311" y="2666999"/>
            <a:ext cx="4327554" cy="4028269"/>
          </a:xfrm>
        </p:spPr>
        <p:txBody>
          <a:bodyPr>
            <a:normAutofit fontScale="92500"/>
          </a:bodyPr>
          <a:lstStyle/>
          <a:p>
            <a:pPr lvl="0"/>
            <a:r>
              <a:rPr lang="en-US" dirty="0" err="1"/>
              <a:t>Analysed</a:t>
            </a:r>
            <a:r>
              <a:rPr lang="en-US" dirty="0"/>
              <a:t> flawed registration form to identify security weaknesses</a:t>
            </a:r>
          </a:p>
          <a:p>
            <a:pPr lvl="0"/>
            <a:r>
              <a:rPr lang="en-US" dirty="0"/>
              <a:t>Explained importance of validation, privacy, and password protection (</a:t>
            </a:r>
            <a:r>
              <a:rPr lang="en-US" dirty="0" err="1"/>
              <a:t>Wadzani</a:t>
            </a:r>
            <a:r>
              <a:rPr lang="en-US" dirty="0"/>
              <a:t>, 2022)</a:t>
            </a:r>
          </a:p>
          <a:p>
            <a:pPr lvl="0"/>
            <a:r>
              <a:rPr lang="en-US" dirty="0"/>
              <a:t>Designed improved registration form for fictional application</a:t>
            </a:r>
          </a:p>
          <a:p>
            <a:r>
              <a:rPr lang="en-US" dirty="0"/>
              <a:t>Applied security principles to protect user data effectively</a:t>
            </a:r>
          </a:p>
        </p:txBody>
      </p:sp>
      <p:pic>
        <p:nvPicPr>
          <p:cNvPr id="4" name="Picture 3">
            <a:extLst>
              <a:ext uri="{FF2B5EF4-FFF2-40B4-BE49-F238E27FC236}">
                <a16:creationId xmlns:a16="http://schemas.microsoft.com/office/drawing/2014/main" id="{B671EE75-B42C-7466-F7D3-6E5A28F8ED17}"/>
              </a:ext>
            </a:extLst>
          </p:cNvPr>
          <p:cNvPicPr>
            <a:picLocks noChangeAspect="1"/>
          </p:cNvPicPr>
          <p:nvPr/>
        </p:nvPicPr>
        <p:blipFill>
          <a:blip r:embed="rId3"/>
          <a:stretch>
            <a:fillRect/>
          </a:stretch>
        </p:blipFill>
        <p:spPr>
          <a:xfrm>
            <a:off x="5559424" y="2438399"/>
            <a:ext cx="5943600" cy="2849880"/>
          </a:xfrm>
          <a:prstGeom prst="rect">
            <a:avLst/>
          </a:prstGeom>
        </p:spPr>
      </p:pic>
    </p:spTree>
    <p:extLst>
      <p:ext uri="{BB962C8B-B14F-4D97-AF65-F5344CB8AC3E}">
        <p14:creationId xmlns:p14="http://schemas.microsoft.com/office/powerpoint/2010/main" val="4059593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73318-EAF5-A414-04F9-B6604EC391A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A99054C-D4B2-DFE1-9537-036B5BAA9018}"/>
              </a:ext>
            </a:extLst>
          </p:cNvPr>
          <p:cNvPicPr>
            <a:picLocks noChangeAspect="1"/>
          </p:cNvPicPr>
          <p:nvPr/>
        </p:nvPicPr>
        <p:blipFill>
          <a:blip r:embed="rId3"/>
          <a:stretch>
            <a:fillRect/>
          </a:stretch>
        </p:blipFill>
        <p:spPr>
          <a:xfrm>
            <a:off x="4981283" y="3367039"/>
            <a:ext cx="6630209" cy="3188744"/>
          </a:xfrm>
          <a:prstGeom prst="rect">
            <a:avLst/>
          </a:prstGeom>
        </p:spPr>
      </p:pic>
      <p:sp>
        <p:nvSpPr>
          <p:cNvPr id="2" name="Title 1">
            <a:extLst>
              <a:ext uri="{FF2B5EF4-FFF2-40B4-BE49-F238E27FC236}">
                <a16:creationId xmlns:a16="http://schemas.microsoft.com/office/drawing/2014/main" id="{43A02FAF-0176-9CA3-ABD7-1D08137BE59A}"/>
              </a:ext>
            </a:extLst>
          </p:cNvPr>
          <p:cNvSpPr>
            <a:spLocks noGrp="1"/>
          </p:cNvSpPr>
          <p:nvPr>
            <p:ph type="title"/>
          </p:nvPr>
        </p:nvSpPr>
        <p:spPr/>
        <p:txBody>
          <a:bodyPr/>
          <a:lstStyle/>
          <a:p>
            <a:r>
              <a:rPr lang="en-US" b="1" dirty="0"/>
              <a:t>Week 10: Responsive Design and Website Security</a:t>
            </a:r>
            <a:endParaRPr lang="en-US" dirty="0"/>
          </a:p>
        </p:txBody>
      </p:sp>
      <p:sp>
        <p:nvSpPr>
          <p:cNvPr id="3" name="Content Placeholder 2">
            <a:extLst>
              <a:ext uri="{FF2B5EF4-FFF2-40B4-BE49-F238E27FC236}">
                <a16:creationId xmlns:a16="http://schemas.microsoft.com/office/drawing/2014/main" id="{98AF73AE-0C67-53FE-0E0B-BDE7A814DD40}"/>
              </a:ext>
            </a:extLst>
          </p:cNvPr>
          <p:cNvSpPr>
            <a:spLocks noGrp="1"/>
          </p:cNvSpPr>
          <p:nvPr>
            <p:ph idx="1"/>
          </p:nvPr>
        </p:nvSpPr>
        <p:spPr>
          <a:xfrm>
            <a:off x="1484311" y="1929539"/>
            <a:ext cx="3103188" cy="4928461"/>
          </a:xfrm>
        </p:spPr>
        <p:txBody>
          <a:bodyPr>
            <a:normAutofit fontScale="92500" lnSpcReduction="20000"/>
          </a:bodyPr>
          <a:lstStyle/>
          <a:p>
            <a:pPr lvl="0"/>
            <a:r>
              <a:rPr lang="en-US" dirty="0"/>
              <a:t>Designed responsive navigation menu with dropdown functionality</a:t>
            </a:r>
          </a:p>
          <a:p>
            <a:pPr lvl="0"/>
            <a:r>
              <a:rPr lang="en-US" dirty="0"/>
              <a:t>Implemented smooth scrolling to enhance navigation usability</a:t>
            </a:r>
          </a:p>
          <a:p>
            <a:pPr lvl="0"/>
            <a:r>
              <a:rPr lang="en-US" dirty="0"/>
              <a:t>Explained security measures protecting websites from common threats (</a:t>
            </a:r>
            <a:r>
              <a:rPr lang="en-US" dirty="0" err="1"/>
              <a:t>Edegbe</a:t>
            </a:r>
            <a:r>
              <a:rPr lang="en-US" dirty="0"/>
              <a:t> and </a:t>
            </a:r>
            <a:r>
              <a:rPr lang="en-US" dirty="0" err="1"/>
              <a:t>Onianwa</a:t>
            </a:r>
            <a:r>
              <a:rPr lang="en-US" dirty="0"/>
              <a:t>, 2022)</a:t>
            </a:r>
          </a:p>
          <a:p>
            <a:pPr lvl="0"/>
            <a:r>
              <a:rPr lang="en-US" dirty="0"/>
              <a:t>Evaluated importance of updates and security plugins</a:t>
            </a:r>
          </a:p>
          <a:p>
            <a:endParaRPr lang="en-US" dirty="0"/>
          </a:p>
        </p:txBody>
      </p:sp>
      <p:pic>
        <p:nvPicPr>
          <p:cNvPr id="4" name="Picture 3">
            <a:extLst>
              <a:ext uri="{FF2B5EF4-FFF2-40B4-BE49-F238E27FC236}">
                <a16:creationId xmlns:a16="http://schemas.microsoft.com/office/drawing/2014/main" id="{4FAFD58F-4DE8-3C30-CC6C-D84E8C7C17D4}"/>
              </a:ext>
            </a:extLst>
          </p:cNvPr>
          <p:cNvPicPr>
            <a:picLocks noChangeAspect="1"/>
          </p:cNvPicPr>
          <p:nvPr/>
        </p:nvPicPr>
        <p:blipFill>
          <a:blip r:embed="rId4"/>
          <a:stretch>
            <a:fillRect/>
          </a:stretch>
        </p:blipFill>
        <p:spPr>
          <a:xfrm>
            <a:off x="8025731" y="2105250"/>
            <a:ext cx="3979545" cy="4347210"/>
          </a:xfrm>
          <a:prstGeom prst="rect">
            <a:avLst/>
          </a:prstGeom>
        </p:spPr>
      </p:pic>
    </p:spTree>
    <p:extLst>
      <p:ext uri="{BB962C8B-B14F-4D97-AF65-F5344CB8AC3E}">
        <p14:creationId xmlns:p14="http://schemas.microsoft.com/office/powerpoint/2010/main" val="3967634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8B468-B396-6548-BD9E-D90C12A0D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5CBD2-0D5B-0F88-5EF0-3FAAF32DD7EC}"/>
              </a:ext>
            </a:extLst>
          </p:cNvPr>
          <p:cNvSpPr>
            <a:spLocks noGrp="1"/>
          </p:cNvSpPr>
          <p:nvPr>
            <p:ph type="title"/>
          </p:nvPr>
        </p:nvSpPr>
        <p:spPr/>
        <p:txBody>
          <a:bodyPr/>
          <a:lstStyle/>
          <a:p>
            <a:r>
              <a:rPr lang="en-US" b="1" dirty="0"/>
              <a:t> References</a:t>
            </a:r>
            <a:endParaRPr lang="en-US" dirty="0"/>
          </a:p>
        </p:txBody>
      </p:sp>
      <p:sp>
        <p:nvSpPr>
          <p:cNvPr id="3" name="Content Placeholder 2">
            <a:extLst>
              <a:ext uri="{FF2B5EF4-FFF2-40B4-BE49-F238E27FC236}">
                <a16:creationId xmlns:a16="http://schemas.microsoft.com/office/drawing/2014/main" id="{5811AC60-93BC-9460-43F3-B9332DE9BD36}"/>
              </a:ext>
            </a:extLst>
          </p:cNvPr>
          <p:cNvSpPr>
            <a:spLocks noGrp="1"/>
          </p:cNvSpPr>
          <p:nvPr>
            <p:ph idx="1"/>
          </p:nvPr>
        </p:nvSpPr>
        <p:spPr/>
        <p:txBody>
          <a:bodyPr>
            <a:normAutofit fontScale="77500" lnSpcReduction="20000"/>
          </a:bodyPr>
          <a:lstStyle/>
          <a:p>
            <a:r>
              <a:rPr lang="en-US" dirty="0" err="1"/>
              <a:t>Hoseini</a:t>
            </a:r>
            <a:r>
              <a:rPr lang="en-US" dirty="0"/>
              <a:t>, J., 2023. E-Commerce by WordPress: e-commerce by WordPress &amp; content management system comparison.</a:t>
            </a:r>
          </a:p>
          <a:p>
            <a:r>
              <a:rPr lang="en-US" dirty="0" err="1"/>
              <a:t>Wadzani</a:t>
            </a:r>
            <a:r>
              <a:rPr lang="en-US" dirty="0"/>
              <a:t>, M., 2022. Web-based statement of result verification system for Federal Polytechnic.</a:t>
            </a:r>
          </a:p>
          <a:p>
            <a:r>
              <a:rPr lang="en-US" dirty="0" err="1"/>
              <a:t>Edegbe</a:t>
            </a:r>
            <a:r>
              <a:rPr lang="en-US" dirty="0"/>
              <a:t>, G.N. and </a:t>
            </a:r>
            <a:r>
              <a:rPr lang="en-US" dirty="0" err="1"/>
              <a:t>Onianwa</a:t>
            </a:r>
            <a:r>
              <a:rPr lang="en-US" dirty="0"/>
              <a:t>, C.U., 2022. The imperative of technical skilled staff in legacy information system management. </a:t>
            </a:r>
            <a:r>
              <a:rPr lang="en-US" i="1" dirty="0"/>
              <a:t>International Journal of Innovative Computing</a:t>
            </a:r>
            <a:r>
              <a:rPr lang="en-US" dirty="0"/>
              <a:t>, </a:t>
            </a:r>
            <a:r>
              <a:rPr lang="en-US" i="1" dirty="0"/>
              <a:t>12</a:t>
            </a:r>
            <a:r>
              <a:rPr lang="en-US" dirty="0"/>
              <a:t>(2), pp.37-44.</a:t>
            </a:r>
          </a:p>
          <a:p>
            <a:r>
              <a:rPr lang="en-US" dirty="0"/>
              <a:t>Miltner, K.M. and Gerrard, Y., 2022. “Tom had us all doing front-end web development”: a nostalgic (re) imagining of Myspace. </a:t>
            </a:r>
            <a:r>
              <a:rPr lang="en-US" i="1" dirty="0"/>
              <a:t>Internet Histories</a:t>
            </a:r>
            <a:r>
              <a:rPr lang="en-US" dirty="0"/>
              <a:t>, </a:t>
            </a:r>
            <a:r>
              <a:rPr lang="en-US" i="1" dirty="0"/>
              <a:t>6</a:t>
            </a:r>
            <a:r>
              <a:rPr lang="en-US" dirty="0"/>
              <a:t>(1-2), pp.48-67.</a:t>
            </a:r>
          </a:p>
          <a:p>
            <a:r>
              <a:rPr lang="en-US" dirty="0"/>
              <a:t>Acharya, K., 2024. Web development system project report. </a:t>
            </a:r>
            <a:r>
              <a:rPr lang="en-US" i="1" dirty="0" err="1"/>
              <a:t>Authorea</a:t>
            </a:r>
            <a:r>
              <a:rPr lang="en-US" i="1" dirty="0"/>
              <a:t>. November 12, 2024. DOI: https://doi. org/10.22541/au. 173144769.91595244/v1</a:t>
            </a:r>
            <a:r>
              <a:rPr lang="en-US" dirty="0"/>
              <a:t>.</a:t>
            </a:r>
          </a:p>
          <a:p>
            <a:endParaRPr lang="en-US" dirty="0"/>
          </a:p>
        </p:txBody>
      </p:sp>
    </p:spTree>
    <p:extLst>
      <p:ext uri="{BB962C8B-B14F-4D97-AF65-F5344CB8AC3E}">
        <p14:creationId xmlns:p14="http://schemas.microsoft.com/office/powerpoint/2010/main" val="471102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7D413-26F2-BCB6-0561-3EC24650CE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518B4C-B858-DBD0-1E96-F677342693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BFF8C61-B830-BB10-607B-72824FE38A61}"/>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397AF550-2847-B1FB-F152-113B71C5A3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2"/>
            <a:ext cx="12293602" cy="6915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21687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1A9F9826-882C-40B9-8F38-5A3B8CFD19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24</TotalTime>
  <Words>1725</Words>
  <Application>Microsoft Office PowerPoint</Application>
  <PresentationFormat>Widescreen</PresentationFormat>
  <Paragraphs>78</Paragraphs>
  <Slides>13</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Corbel</vt:lpstr>
      <vt:lpstr>Times New Roman</vt:lpstr>
      <vt:lpstr>Parallax</vt:lpstr>
      <vt:lpstr>Web Technologies – Part B Consolidation (Weeks 1–10)</vt:lpstr>
      <vt:lpstr>Week 1: HTML Foundations and Web Presence</vt:lpstr>
      <vt:lpstr>Week 2: Version Control and GitHub Usage</vt:lpstr>
      <vt:lpstr>Week 3: Content Management Systems and Blogging</vt:lpstr>
      <vt:lpstr>Week 4: Local Server Configuration</vt:lpstr>
      <vt:lpstr>Week 5: Multi-Page Websites and JavaScript Interaction</vt:lpstr>
      <vt:lpstr>Week 6: Dynamic Web Applications and Server-Side Processing</vt:lpstr>
      <vt:lpstr>Week 7: WordPress and Asynchronous Data Loading with AJAX</vt:lpstr>
      <vt:lpstr>Week 8: Multimedia Integration and Animations</vt:lpstr>
      <vt:lpstr>Week 9: User Registration, Security, and Validation</vt:lpstr>
      <vt:lpstr>Week 10: Responsive Design and Website Security</vt:lpstr>
      <vt:lpstr> 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Solanki Krupal</cp:lastModifiedBy>
  <cp:revision>3</cp:revision>
  <dcterms:created xsi:type="dcterms:W3CDTF">2026-01-31T09:15:03Z</dcterms:created>
  <dcterms:modified xsi:type="dcterms:W3CDTF">2026-02-02T21:17:06Z</dcterms:modified>
</cp:coreProperties>
</file>